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hakra Petch SemiBold"/>
      <p:regular r:id="rId201314"/>
    </p:embeddedFont>
    <p:embeddedFont>
      <p:font typeface="Chakra Petch Bold"/>
      <p:regular r:id="rId201315"/>
    </p:embeddedFont>
    <p:embeddedFont>
      <p:font typeface="Jura"/>
      <p:regular r:id="rId201316"/>
    </p:embeddedFont>
    <p:embeddedFont>
      <p:font typeface="Jura SemiBold"/>
      <p:regular r:id="rId201317"/>
    </p:embeddedFont>
    <p:embeddedFont>
      <p:font typeface="Jura Bold"/>
      <p:regular r:id="rId201318"/>
    </p:embeddedFont>
    <p:embeddedFont>
      <p:font typeface="Plus Jakarta Sans"/>
      <p:regular r:id="rId201319"/>
    </p:embeddedFont>
    <p:embeddedFont>
      <p:font typeface="Plus Jakarta Sans Bold"/>
      <p:regular r:id="rId201320"/>
    </p:embeddedFont>
    <p:embeddedFont>
      <p:font typeface="Red Hat Mono"/>
      <p:regular r:id="rId201321"/>
    </p:embeddedFont>
    <p:embeddedFont>
      <p:font typeface="Red Hat Mono Medium"/>
      <p:regular r:id="rId201322"/>
    </p:embeddedFont>
    <p:embeddedFont>
      <p:font typeface="Red Hat Mono Bold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Relationship Id="rId201322" Type="http://schemas.openxmlformats.org/officeDocument/2006/relationships/font" Target="fonts/201322.fntdata"/><Relationship Id="rId201323" Type="http://schemas.openxmlformats.org/officeDocument/2006/relationships/font" Target="fonts/20132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D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A33">
              <a:alpha val="72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DD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FFFFF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CITY EMERGENCY PREPAREDNESS · PROPOSED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680639"/>
            <a:ext cx="10972526" cy="236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6600" b="1" spc="-264" kern="100" dirty="0">
                <a:solidFill>
                  <a:srgbClr val="FFFFF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-120"/>
              </a:rPr>
              <a:t>Disaster</a:t>
            </a:r>
            <a:endParaRPr lang="en-US" sz="66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6600" b="1" spc="-264" kern="100" dirty="0">
                <a:solidFill>
                  <a:srgbClr val="FFFFF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-120"/>
              </a:rPr>
              <a:t>Preparedness</a:t>
            </a:r>
            <a:endParaRPr lang="en-US" sz="66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6600" b="1" spc="-264" kern="100" dirty="0">
                <a:solidFill>
                  <a:srgbClr val="FFFFFF"/>
                </a:solidFill>
                <a:latin typeface="Chakra Petch Bold" pitchFamily="34" charset="0"/>
                <a:ea typeface="Chakra Petch Bold" pitchFamily="34" charset="-122"/>
                <a:cs typeface="Chakra Petch Bold" pitchFamily="34" charset="-120"/>
              </a:rPr>
              <a:t>Website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609585" y="4198441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09585" y="4628400"/>
            <a:ext cx="10972526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Hazard guidance, emergency contacts</a:t>
            </a:r>
            <a:endParaRPr lang="en-US" sz="1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and a personal preparedness checklist.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09585" y="6058079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92" kern="100" dirty="0">
                <a:solidFill>
                  <a:srgbClr val="FFFFFF"/>
                </a:solidFill>
                <a:latin typeface="Jura SemiBold" pitchFamily="34" charset="0"/>
                <a:ea typeface="Jura SemiBold" pitchFamily="34" charset="-122"/>
                <a:cs typeface="Jura SemiBold" pitchFamily="34" charset="-120"/>
              </a:rPr>
              <a:t>FLOOD · FIRE · EARTHQUAKE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751821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THE NEED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6908627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Residents need one trusted place to prepare for emergencies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2064544"/>
            <a:ext cx="1727058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09585" y="2334228"/>
            <a:ext cx="7518212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Floods, fires and earthquakes can strike cities with little warning.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2835811"/>
            <a:ext cx="751821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Information today is scattered and hard to act on quickly.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5" y="4937919"/>
            <a:ext cx="6908627" cy="1310481"/>
          </a:xfrm>
          <a:prstGeom prst="rect">
            <a:avLst/>
          </a:prstGeom>
          <a:solidFill>
            <a:srgbClr val="FFE08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38179" y="5174139"/>
            <a:ext cx="668003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92" kern="100" dirty="0">
                <a:solidFill>
                  <a:srgbClr val="173C45"/>
                </a:solidFill>
                <a:latin typeface="Jura SemiBold" pitchFamily="34" charset="0"/>
                <a:ea typeface="Jura SemiBold" pitchFamily="34" charset="-122"/>
                <a:cs typeface="Jura SemiBold" pitchFamily="34" charset="-120"/>
              </a:rPr>
              <a:t>DESIGN CHALLENGE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8179" y="5492194"/>
            <a:ext cx="645143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a city emergency preparedness site covering flood, fire, earthquake, safety tips, emergency contacts and a personal checklist.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0594" y="6458545"/>
            <a:ext cx="790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spc="84" kern="100" dirty="0">
                <a:solidFill>
                  <a:srgbClr val="3F5F6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Five objectives guide the project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84" y="1844564"/>
            <a:ext cx="38099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9170" y="1860197"/>
            <a:ext cx="469888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Clear hazard guidance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219170" y="2319278"/>
            <a:ext cx="487667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Give clear guidance for flood, fire and earthquake.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042" y="1844564"/>
            <a:ext cx="380990" cy="381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83228" y="1860197"/>
            <a:ext cx="469888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Fast access to contacts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6883228" y="2319278"/>
            <a:ext cx="469888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Make emergency contacts easy to find fast.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84" y="3490305"/>
            <a:ext cx="380990" cy="381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19170" y="3505938"/>
            <a:ext cx="469888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 preparedness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1219170" y="3965019"/>
            <a:ext cx="46988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Let each person build a personal preparedness checklist.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042" y="3490305"/>
            <a:ext cx="380990" cy="381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83228" y="3505938"/>
            <a:ext cx="4698882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Lightweight mobile access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6883228" y="3965019"/>
            <a:ext cx="46988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Keep the site readable on phones and low bandwidth.</a:t>
            </a:r>
            <a:endParaRPr lang="en-US" sz="15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84" y="4958247"/>
            <a:ext cx="380990" cy="381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19170" y="4973880"/>
            <a:ext cx="10362941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Inclusive communication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1219170" y="5432961"/>
            <a:ext cx="1036294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for accessibility and plain language.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6089498" y="1844576"/>
            <a:ext cx="12700" cy="1467941"/>
          </a:xfrm>
          <a:prstGeom prst="rect">
            <a:avLst/>
          </a:prstGeom>
          <a:solidFill>
            <a:srgbClr val="9CC8D0"/>
          </a:solidFill>
          <a:ln/>
        </p:spPr>
        <p:txBody>
          <a:bodyPr/>
          <a:p/>
        </p:txBody>
      </p:sp>
      <p:sp>
        <p:nvSpPr>
          <p:cNvPr id="21" name="Shape 14"/>
          <p:cNvSpPr/>
          <p:nvPr/>
        </p:nvSpPr>
        <p:spPr>
          <a:xfrm>
            <a:off x="609585" y="3306167"/>
            <a:ext cx="5486263" cy="12700"/>
          </a:xfrm>
          <a:prstGeom prst="rect">
            <a:avLst/>
          </a:prstGeom>
          <a:solidFill>
            <a:srgbClr val="9CC8D0"/>
          </a:solidFill>
          <a:ln/>
        </p:spPr>
        <p:txBody>
          <a:bodyPr/>
          <a:p/>
        </p:txBody>
      </p:sp>
      <p:sp>
        <p:nvSpPr>
          <p:cNvPr id="22" name="Shape 15"/>
          <p:cNvSpPr/>
          <p:nvPr/>
        </p:nvSpPr>
        <p:spPr>
          <a:xfrm>
            <a:off x="6089498" y="3312517"/>
            <a:ext cx="12700" cy="1467941"/>
          </a:xfrm>
          <a:prstGeom prst="rect">
            <a:avLst/>
          </a:prstGeom>
          <a:solidFill>
            <a:srgbClr val="9CC8D0"/>
          </a:solidFill>
          <a:ln/>
        </p:spPr>
        <p:txBody>
          <a:bodyPr/>
          <a:p/>
        </p:txBody>
      </p:sp>
      <p:sp>
        <p:nvSpPr>
          <p:cNvPr id="23" name="Shape 16"/>
          <p:cNvSpPr/>
          <p:nvPr/>
        </p:nvSpPr>
        <p:spPr>
          <a:xfrm>
            <a:off x="6095848" y="3306167"/>
            <a:ext cx="5486263" cy="12700"/>
          </a:xfrm>
          <a:prstGeom prst="rect">
            <a:avLst/>
          </a:prstGeom>
          <a:solidFill>
            <a:srgbClr val="9CC8D0"/>
          </a:solidFill>
          <a:ln/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609585" y="4774109"/>
            <a:ext cx="10972526" cy="12700"/>
          </a:xfrm>
          <a:prstGeom prst="rect">
            <a:avLst/>
          </a:prstGeom>
          <a:solidFill>
            <a:srgbClr val="9CC8D0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EXISTING → PROPOSED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From scattered sources to one preparedness hub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9585" y="1844576"/>
            <a:ext cx="5333867" cy="2102048"/>
          </a:xfrm>
          <a:prstGeom prst="rect">
            <a:avLst/>
          </a:prstGeom>
          <a:solidFill>
            <a:srgbClr val="8AD8D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38179" y="2088797"/>
            <a:ext cx="4876678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Existing system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38179" y="2534543"/>
            <a:ext cx="4876678" cy="1183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Information spread across separate agency sites, PDFs and social posts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Little personalization; generic advice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Contacts buried in long pages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8244" y="1844576"/>
            <a:ext cx="5333867" cy="2102048"/>
          </a:xfrm>
          <a:prstGeom prst="rect">
            <a:avLst/>
          </a:prstGeom>
          <a:solidFill>
            <a:srgbClr val="FFE08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76838" y="2088797"/>
            <a:ext cx="4876678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Proposed system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76838" y="2534543"/>
            <a:ext cx="4876678" cy="913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Single city site organized by hazard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Quick-access contacts and safety tips</a:t>
            </a:r>
            <a:endParaRPr lang="en-US" sz="1500" dirty="0"/>
          </a:p>
          <a:p>
            <a:pPr algn="l" marL="304800" indent="-304800">
              <a:lnSpc>
                <a:spcPct val="118000"/>
              </a:lnSpc>
              <a:buSzPct val="100000"/>
              <a:buChar char="•"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 checklist per household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124424"/>
            <a:ext cx="3301917" cy="11430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1" y="4124424"/>
            <a:ext cx="3301917" cy="11430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4124424"/>
            <a:ext cx="3301917" cy="1143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9585" y="5456273"/>
            <a:ext cx="11582110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3F5F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[Placeholder: add real findings from team's review of existing sites]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PROPOSED FEATURE 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Six core features, with build status to confirm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9585" y="1844576"/>
            <a:ext cx="3581310" cy="2125663"/>
          </a:xfrm>
          <a:prstGeom prst="roundRect">
            <a:avLst>
              <a:gd name="adj" fmla="val 538"/>
            </a:avLst>
          </a:prstGeom>
          <a:noFill/>
          <a:ln w="25399">
            <a:solidFill>
              <a:srgbClr val="19AFE0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1908076"/>
            <a:ext cx="3047924" cy="863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1981" y="2965097"/>
            <a:ext cx="3276518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Flood guidance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61981" y="3421892"/>
            <a:ext cx="3276518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3F5F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[Placeholder: Implemented / In progress / Planned]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291" y="1844576"/>
            <a:ext cx="3505112" cy="2125663"/>
          </a:xfrm>
          <a:prstGeom prst="roundRect">
            <a:avLst>
              <a:gd name="adj" fmla="val 538"/>
            </a:avLst>
          </a:prstGeom>
          <a:noFill/>
          <a:ln w="25399">
            <a:solidFill>
              <a:srgbClr val="19AFE0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88" y="1908076"/>
            <a:ext cx="3047924" cy="863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95688" y="2965097"/>
            <a:ext cx="320032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Fire guidance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495688" y="3421892"/>
            <a:ext cx="3200320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3F5F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[Placeholder: Implemented / In progress / Planned]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00800" y="1844576"/>
            <a:ext cx="3581310" cy="2125663"/>
          </a:xfrm>
          <a:prstGeom prst="roundRect">
            <a:avLst>
              <a:gd name="adj" fmla="val 538"/>
            </a:avLst>
          </a:prstGeom>
          <a:noFill/>
          <a:ln w="25399">
            <a:solidFill>
              <a:srgbClr val="19AFE0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196" y="1908076"/>
            <a:ext cx="3047924" cy="863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3196" y="2965097"/>
            <a:ext cx="3276518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Earthquake guidance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8153196" y="3421892"/>
            <a:ext cx="3276518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3F5F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[Placeholder: Implemented / In progress / Planned]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09585" y="4122638"/>
            <a:ext cx="3581310" cy="2125762"/>
          </a:xfrm>
          <a:prstGeom prst="rect">
            <a:avLst/>
          </a:prstGeom>
          <a:solidFill>
            <a:srgbClr val="FFE08A"/>
          </a:solidFill>
          <a:ln/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82" y="4160738"/>
            <a:ext cx="476238" cy="4762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6582" y="4830409"/>
            <a:ext cx="3327317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General safety tips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736582" y="5287204"/>
            <a:ext cx="3327317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[Placeholder: Implemented / In progress / Planned]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343291" y="4122638"/>
            <a:ext cx="3505112" cy="2125762"/>
          </a:xfrm>
          <a:prstGeom prst="rect">
            <a:avLst/>
          </a:prstGeom>
          <a:solidFill>
            <a:srgbClr val="FFE08A"/>
          </a:solidFill>
          <a:ln/>
        </p:spPr>
        <p:txBody>
          <a:bodyPr/>
          <a:p/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0288" y="4160738"/>
            <a:ext cx="476238" cy="4762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470288" y="4830409"/>
            <a:ext cx="3251119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 contacts directory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4470288" y="5605697"/>
            <a:ext cx="3251119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[Placeholder: Implemented / In progress / Planned]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000800" y="4122638"/>
            <a:ext cx="3581310" cy="2125762"/>
          </a:xfrm>
          <a:prstGeom prst="rect">
            <a:avLst/>
          </a:prstGeom>
          <a:solidFill>
            <a:srgbClr val="FFE08A"/>
          </a:solidFill>
          <a:ln/>
        </p:spPr>
        <p:txBody>
          <a:bodyPr/>
          <a:p/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7" y="4160738"/>
            <a:ext cx="476238" cy="4762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127797" y="4830409"/>
            <a:ext cx="3327317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 preparedness checklist</a:t>
            </a:r>
            <a:endParaRPr lang="en-US" sz="1900" dirty="0"/>
          </a:p>
        </p:txBody>
      </p:sp>
      <p:sp>
        <p:nvSpPr>
          <p:cNvPr id="28" name="Text 20"/>
          <p:cNvSpPr/>
          <p:nvPr/>
        </p:nvSpPr>
        <p:spPr>
          <a:xfrm>
            <a:off x="8127797" y="5605697"/>
            <a:ext cx="3327317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[Placeholder: Implemented / In progress / Planned]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PROPOSED DESIGN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A three-tier architecture connects users to trusted content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2064544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09585" y="3000415"/>
            <a:ext cx="365750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585" y="3282950"/>
            <a:ext cx="3657509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Resident's browser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09585" y="3829685"/>
            <a:ext cx="365750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 end for hazard pages, contacts and checklist interactions.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67093" y="3000415"/>
            <a:ext cx="365750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67093" y="3282950"/>
            <a:ext cx="3657509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Web server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267093" y="3829685"/>
            <a:ext cx="365750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Application logic routes requests and retrieves the relevant content.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24602" y="3000415"/>
            <a:ext cx="365750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24602" y="3282950"/>
            <a:ext cx="3657509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Content store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24602" y="3829685"/>
            <a:ext cx="365750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Preparedness guidance and emergency contacts data.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585" y="5208389"/>
            <a:ext cx="10972526" cy="1040011"/>
          </a:xfrm>
          <a:prstGeom prst="rect">
            <a:avLst/>
          </a:prstGeom>
          <a:solidFill>
            <a:srgbClr val="FFE08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8179" y="5444609"/>
            <a:ext cx="107439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92" kern="100" dirty="0">
                <a:solidFill>
                  <a:srgbClr val="173C45"/>
                </a:solidFill>
                <a:latin typeface="Jura SemiBold" pitchFamily="34" charset="0"/>
                <a:ea typeface="Jura SemiBold" pitchFamily="34" charset="-122"/>
                <a:cs typeface="Jura SemiBold" pitchFamily="34" charset="-120"/>
              </a:rPr>
              <a:t>CHECKLIST PERSISTENCE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8179" y="5762665"/>
            <a:ext cx="1074393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Checklist saved per user. [Placeholder: confirm storage approach, e.g. local browser or database]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IMPLEMENTATION CHOICES · TO CONFIRM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Technology stack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09585" y="1857911"/>
            <a:ext cx="1158211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team fills in the actual technologies used across these layers.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2846784"/>
            <a:ext cx="2514537" cy="2371328"/>
          </a:xfrm>
          <a:prstGeom prst="roundRect">
            <a:avLst>
              <a:gd name="adj" fmla="val 482"/>
            </a:avLst>
          </a:prstGeom>
          <a:noFill/>
          <a:ln w="25399">
            <a:solidFill>
              <a:srgbClr val="19AFE0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578" y="3100784"/>
            <a:ext cx="476238" cy="476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3578" y="3706955"/>
            <a:ext cx="200655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 end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3578" y="4166037"/>
            <a:ext cx="2006550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[Placeholder: e.g. HTML, CSS, JavaScript]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428914" y="2846784"/>
            <a:ext cx="2514537" cy="2371328"/>
          </a:xfrm>
          <a:prstGeom prst="roundRect">
            <a:avLst>
              <a:gd name="adj" fmla="val 482"/>
            </a:avLst>
          </a:prstGeom>
          <a:noFill/>
          <a:ln w="25399">
            <a:solidFill>
              <a:srgbClr val="19AFE0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908" y="3100784"/>
            <a:ext cx="476238" cy="4762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2908" y="3706955"/>
            <a:ext cx="200655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 end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3682908" y="4166037"/>
            <a:ext cx="226054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[Placeholder]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248244" y="2846784"/>
            <a:ext cx="2514537" cy="2371328"/>
          </a:xfrm>
          <a:prstGeom prst="roundRect">
            <a:avLst>
              <a:gd name="adj" fmla="val 482"/>
            </a:avLst>
          </a:prstGeom>
          <a:noFill/>
          <a:ln w="25399">
            <a:solidFill>
              <a:srgbClr val="19AFE0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237" y="3100784"/>
            <a:ext cx="476238" cy="4762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02237" y="3706955"/>
            <a:ext cx="2006550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storage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6502237" y="4166037"/>
            <a:ext cx="226054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[Placeholder]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9067573" y="2846784"/>
            <a:ext cx="2514537" cy="2371328"/>
          </a:xfrm>
          <a:prstGeom prst="rect">
            <a:avLst/>
          </a:prstGeom>
          <a:solidFill>
            <a:srgbClr val="FFE08A"/>
          </a:solidFill>
          <a:ln/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167" y="3075384"/>
            <a:ext cx="476238" cy="4762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96167" y="3681555"/>
            <a:ext cx="2057349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Hosting and tools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9296167" y="4140637"/>
            <a:ext cx="2057349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[Placeholder: version control, hosting, design tool]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09585" y="5956137"/>
            <a:ext cx="10972526" cy="298648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6" kern="100" dirty="0">
                <a:solidFill>
                  <a:srgbClr val="3F5F6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Technology names remain unconfirmed; the architecture shows the proposed responsibilities.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DESIGN EVIDENCE · SCREENSHOTS PENDING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Website design and demo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9585" y="1844576"/>
            <a:ext cx="5333867" cy="1868388"/>
          </a:xfrm>
          <a:prstGeom prst="roundRect">
            <a:avLst>
              <a:gd name="adj" fmla="val 612"/>
            </a:avLst>
          </a:prstGeom>
          <a:noFill/>
          <a:ln w="25399">
            <a:solidFill>
              <a:srgbClr val="19AFE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3578" y="2105561"/>
            <a:ext cx="507987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SCREENSHOT FRAME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3578" y="2388096"/>
            <a:ext cx="4825879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[Placeholder: home page]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63578" y="3285665"/>
            <a:ext cx="5079873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3F5F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Entry point to hazards, safety tips and key actions.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8244" y="1844576"/>
            <a:ext cx="5333867" cy="1868388"/>
          </a:xfrm>
          <a:prstGeom prst="roundRect">
            <a:avLst>
              <a:gd name="adj" fmla="val 612"/>
            </a:avLst>
          </a:prstGeom>
          <a:noFill/>
          <a:ln w="25399">
            <a:solidFill>
              <a:srgbClr val="19AFE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02237" y="2105561"/>
            <a:ext cx="507987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SCREENSHOT FRAME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02237" y="2388096"/>
            <a:ext cx="4825879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[Placeholder: hazard page]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502237" y="3285665"/>
            <a:ext cx="5079873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3F5F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Focused preparedness guidance for one hazard.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585" y="4017764"/>
            <a:ext cx="5333867" cy="1868488"/>
          </a:xfrm>
          <a:prstGeom prst="roundRect">
            <a:avLst>
              <a:gd name="adj" fmla="val 612"/>
            </a:avLst>
          </a:prstGeom>
          <a:noFill/>
          <a:ln w="25399">
            <a:solidFill>
              <a:srgbClr val="19AFE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3578" y="4278749"/>
            <a:ext cx="507987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SCREENSHOT FRAME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3578" y="4561284"/>
            <a:ext cx="4825879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[Placeholder: contacts]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63578" y="5458952"/>
            <a:ext cx="5079873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3F5F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Quick access to the emergency contacts directory.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48244" y="4017764"/>
            <a:ext cx="5333867" cy="1868488"/>
          </a:xfrm>
          <a:prstGeom prst="roundRect">
            <a:avLst>
              <a:gd name="adj" fmla="val 612"/>
            </a:avLst>
          </a:prstGeom>
          <a:noFill/>
          <a:ln w="25399">
            <a:solidFill>
              <a:srgbClr val="19AFE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02237" y="4278749"/>
            <a:ext cx="507987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SCREENSHOT FRAME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02237" y="4561284"/>
            <a:ext cx="4825879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[Placeholder: checklist]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6502237" y="5458952"/>
            <a:ext cx="5079873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3F5F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 preparedness tasks for each household.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585" y="6075101"/>
            <a:ext cx="11582110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3F5F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[Placeholder: live demo link when available]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VALIDATION · NO RESULTS CLAIMED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042"/>
            <a:ext cx="10972526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Testing plan and results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1588988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09585" y="1857911"/>
            <a:ext cx="1158211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 checks cover behavior, findability, device layouts and accessible use.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335213"/>
          <a:ext cx="10972526" cy="914400"/>
        </p:xfrm>
        <a:graphic>
          <a:graphicData uri="http://schemas.openxmlformats.org/drawingml/2006/table">
            <a:tbl>
              <a:tblPr/>
              <a:tblGrid>
                <a:gridCol w="2194465"/>
                <a:gridCol w="5376530"/>
                <a:gridCol w="3401531"/>
              </a:tblGrid>
              <a:tr h="398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062A3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TEST</a:t>
                      </a:r>
                      <a:endParaRPr lang="en-US" sz="105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062A3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METHOD</a:t>
                      </a:r>
                      <a:endParaRPr lang="en-US" sz="105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spc="126" kern="100" dirty="0">
                          <a:solidFill>
                            <a:srgbClr val="062A33"/>
                          </a:solidFill>
                          <a:latin typeface="Jura" pitchFamily="34" charset="0"/>
                          <a:ea typeface="Jura" pitchFamily="34" charset="-122"/>
                          <a:cs typeface="Jura" pitchFamily="34" charset="-120"/>
                        </a:rPr>
                        <a:t>RESULT</a:t>
                      </a:r>
                      <a:endParaRPr lang="en-US" sz="1050" dirty="0">
                        <a:latin typeface="Jura" charset="0"/>
                        <a:ea typeface="Jura" charset="0"/>
                        <a:cs typeface="Jur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0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Functional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Check links, forms and checklist behavior against expected actions.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[Placeholder: results pending]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0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Usability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Observe how residents find emergency contacts in a simulated stressful task.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[Placeholder: results pending]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0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Responsive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Review navigation and page layouts on phone, tablet and desktop.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[Placeholder: results pending]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4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Accessibility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Check contrast and complete key tasks using only the keyboard.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3C4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[Placeholder: results pending]</a:t>
                      </a:r>
                      <a:endParaRPr lang="en-US" sz="15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5956137"/>
            <a:ext cx="10972526" cy="298648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6" kern="100" dirty="0">
                <a:solidFill>
                  <a:srgbClr val="3F5F69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Record actual observations and defects before reporting any test as passed.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483" y="616585"/>
            <a:ext cx="751821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93" kern="100" dirty="0">
                <a:solidFill>
                  <a:srgbClr val="27464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CONCLUSION · NEXT SCOPE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673483" y="904042"/>
            <a:ext cx="6908627" cy="475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3500" spc="-42" kern="100" dirty="0">
                <a:solidFill>
                  <a:srgbClr val="062A33"/>
                </a:solidFill>
                <a:latin typeface="Chakra Petch SemiBold" pitchFamily="34" charset="0"/>
                <a:ea typeface="Chakra Petch SemiBold" pitchFamily="34" charset="-122"/>
                <a:cs typeface="Chakra Petch SemiBold" pitchFamily="34" charset="-120"/>
              </a:rPr>
              <a:t>Conclusion and future scope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4673483" y="1588988"/>
            <a:ext cx="1727058" cy="31651"/>
          </a:xfrm>
          <a:prstGeom prst="roundRect">
            <a:avLst>
              <a:gd name="adj" fmla="val 49998"/>
            </a:avLst>
          </a:prstGeom>
          <a:solidFill>
            <a:srgbClr val="D1304E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673483" y="1858673"/>
            <a:ext cx="6908627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single, hazard-based preparedness hub is a practical way to help residents act early.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673483" y="2682514"/>
            <a:ext cx="7518212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spc="11" kern="100" dirty="0">
                <a:solidFill>
                  <a:srgbClr val="3F5F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[Placeholder: summarize actual outcomes]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673483" y="3849767"/>
            <a:ext cx="75182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92" kern="100" dirty="0">
                <a:solidFill>
                  <a:srgbClr val="173C45"/>
                </a:solidFill>
                <a:latin typeface="Jura SemiBold" pitchFamily="34" charset="0"/>
                <a:ea typeface="Jura SemiBold" pitchFamily="34" charset="-122"/>
                <a:cs typeface="Jura SemiBold" pitchFamily="34" charset="-120"/>
              </a:rPr>
              <a:t>FUTURE SCOPE, NOT YET BUILT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73483" y="4217988"/>
            <a:ext cx="3378115" cy="575270"/>
          </a:xfrm>
          <a:prstGeom prst="rect">
            <a:avLst/>
          </a:prstGeom>
          <a:solidFill>
            <a:srgbClr val="FFE08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825879" y="4383723"/>
            <a:ext cx="322571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Live alerts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03995" y="4217988"/>
            <a:ext cx="3378115" cy="575270"/>
          </a:xfrm>
          <a:prstGeom prst="rect">
            <a:avLst/>
          </a:prstGeom>
          <a:solidFill>
            <a:srgbClr val="FFE08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356391" y="4383723"/>
            <a:ext cx="322571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Multilingual support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673483" y="4945559"/>
            <a:ext cx="3378115" cy="575270"/>
          </a:xfrm>
          <a:prstGeom prst="rect">
            <a:avLst/>
          </a:prstGeom>
          <a:solidFill>
            <a:srgbClr val="FFE08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825879" y="5111294"/>
            <a:ext cx="322571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Interactive risk maps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203995" y="4945559"/>
            <a:ext cx="3378115" cy="575270"/>
          </a:xfrm>
          <a:prstGeom prst="rect">
            <a:avLst/>
          </a:prstGeom>
          <a:solidFill>
            <a:srgbClr val="FFE08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356391" y="5111294"/>
            <a:ext cx="322571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Offline mode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673483" y="5673130"/>
            <a:ext cx="6908627" cy="575270"/>
          </a:xfrm>
          <a:prstGeom prst="rect">
            <a:avLst/>
          </a:prstGeom>
          <a:solidFill>
            <a:srgbClr val="FFE08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825879" y="5838865"/>
            <a:ext cx="675623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73C4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Mobile 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2026-10-14T13:53:14Z</dcterms:created>
  <dcterms:modified xsi:type="dcterms:W3CDTF">2026-10-14T13:53:14Z</dcterms:modified>
</cp:coreProperties>
</file>